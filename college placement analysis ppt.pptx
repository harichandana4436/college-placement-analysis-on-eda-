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9" r:id="rId3"/>
    <p:sldId id="260" r:id="rId4"/>
    <p:sldId id="261" r:id="rId5"/>
    <p:sldId id="265" r:id="rId6"/>
    <p:sldId id="271" r:id="rId7"/>
    <p:sldId id="264" r:id="rId8"/>
    <p:sldId id="263" r:id="rId9"/>
    <p:sldId id="272" r:id="rId10"/>
    <p:sldId id="266" r:id="rId11"/>
    <p:sldId id="267" r:id="rId12"/>
    <p:sldId id="268" r:id="rId13"/>
    <p:sldId id="273" r:id="rId14"/>
    <p:sldId id="274" r:id="rId15"/>
    <p:sldId id="259" r:id="rId16"/>
  </p:sldIdLst>
  <p:sldSz cx="12192000" cy="6858000"/>
  <p:notesSz cx="6858000" cy="9144000"/>
  <p:embeddedFontLst>
    <p:embeddedFont>
      <p:font typeface="Lato Black" panose="020F0502020204030203" pitchFamily="34" charset="0"/>
      <p:bold r:id="rId18"/>
      <p:boldItalic r:id="rId19"/>
    </p:embeddedFont>
    <p:embeddedFont>
      <p:font typeface="Libre Baskerville" panose="02000000000000000000" pitchFamily="2" charset="0"/>
      <p:regular r:id="rId20"/>
      <p:bold r:id="rId21"/>
      <p: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40B3729-E6A0-F2D4-B94C-EF5AF2504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64E25453-91CE-D758-7EBA-B1EEA47C92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D0B6BDB5-3D54-BD9F-C826-84224925E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3210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ADC5428B-356E-BAC7-69E7-F4FA698B1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06361D8E-3484-8801-E2B8-01A793D5C5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F487F9FE-BAD9-2A09-E99A-3FCD4807A4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8466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6" r:id="rId5"/>
    <p:sldLayoutId id="2147483657" r:id="rId6"/>
    <p:sldLayoutId id="2147483658" r:id="rId7"/>
    <p:sldLayoutId id="214748365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58717"/>
          <a:stretch/>
        </p:blipFill>
        <p:spPr>
          <a:xfrm>
            <a:off x="0" y="-314960"/>
            <a:ext cx="12190815" cy="276352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238896" y="2610546"/>
            <a:ext cx="7246189" cy="10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lang="en-IN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College Placement Analysis</a:t>
            </a:r>
            <a:endParaRPr sz="4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90A69C-BBBD-0893-9023-4AE5E6362DAA}"/>
              </a:ext>
            </a:extLst>
          </p:cNvPr>
          <p:cNvSpPr txBox="1"/>
          <p:nvPr/>
        </p:nvSpPr>
        <p:spPr>
          <a:xfrm>
            <a:off x="314632" y="4978222"/>
            <a:ext cx="32348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Presented By:</a:t>
            </a:r>
          </a:p>
          <a:p>
            <a:r>
              <a:rPr lang="en-IN" b="1" dirty="0"/>
              <a:t>T. Lakshmi Hari Chandana.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4BE0A-E912-1F8C-220A-6C84E65CD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6423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2F0811-4807-2677-B1E0-2183D1E1C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99535"/>
            <a:ext cx="10515600" cy="4977428"/>
          </a:xfrm>
        </p:spPr>
        <p:txBody>
          <a:bodyPr/>
          <a:lstStyle/>
          <a:p>
            <a:r>
              <a:rPr lang="en-IN" dirty="0"/>
              <a:t>1. Problem Statement &amp; objective</a:t>
            </a:r>
          </a:p>
          <a:p>
            <a:r>
              <a:rPr lang="en-IN" dirty="0"/>
              <a:t>2.Understanding the Columns</a:t>
            </a:r>
          </a:p>
          <a:p>
            <a:r>
              <a:rPr lang="en-IN" dirty="0"/>
              <a:t>3.Data Information</a:t>
            </a:r>
          </a:p>
          <a:p>
            <a:r>
              <a:rPr lang="en-IN" dirty="0"/>
              <a:t>4.Data Type Conversion</a:t>
            </a:r>
          </a:p>
          <a:p>
            <a:r>
              <a:rPr lang="en-IN" dirty="0"/>
              <a:t>5. Handling Outliers</a:t>
            </a:r>
          </a:p>
          <a:p>
            <a:r>
              <a:rPr lang="en-IN" dirty="0"/>
              <a:t>6.Analysis</a:t>
            </a:r>
          </a:p>
          <a:p>
            <a:r>
              <a:rPr lang="en-IN" dirty="0"/>
              <a:t>7.Insights</a:t>
            </a:r>
          </a:p>
          <a:p>
            <a:r>
              <a:rPr lang="en-IN" dirty="0"/>
              <a:t>8.conclusion</a:t>
            </a:r>
          </a:p>
        </p:txBody>
      </p:sp>
    </p:spTree>
    <p:extLst>
      <p:ext uri="{BB962C8B-B14F-4D97-AF65-F5344CB8AC3E}">
        <p14:creationId xmlns:p14="http://schemas.microsoft.com/office/powerpoint/2010/main" val="3538959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E6FAB2EE-9B9B-947D-903B-BFFD846A5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14520CAE-A4A1-D822-2A42-F68F0675C57B}"/>
              </a:ext>
            </a:extLst>
          </p:cNvPr>
          <p:cNvSpPr txBox="1"/>
          <p:nvPr/>
        </p:nvSpPr>
        <p:spPr>
          <a:xfrm>
            <a:off x="737811" y="1299172"/>
            <a:ext cx="10500459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dk1"/>
              </a:buClr>
              <a:buSzPts val="1800"/>
            </a:pPr>
            <a:r>
              <a:rPr lang="en-US" sz="2400" dirty="0"/>
              <a:t>Predict and analyze the factors affecting student placement in colleges based on academic, cognitive, and skill-based attributes.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4CE5B228-3173-3B79-3740-5CE00F79B375}"/>
              </a:ext>
            </a:extLst>
          </p:cNvPr>
          <p:cNvSpPr txBox="1"/>
          <p:nvPr/>
        </p:nvSpPr>
        <p:spPr>
          <a:xfrm>
            <a:off x="427656" y="416554"/>
            <a:ext cx="6099463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320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Problem  Statement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508CA3-F9CC-1FBF-DBF1-969D83763138}"/>
              </a:ext>
            </a:extLst>
          </p:cNvPr>
          <p:cNvSpPr txBox="1"/>
          <p:nvPr/>
        </p:nvSpPr>
        <p:spPr>
          <a:xfrm>
            <a:off x="427656" y="2754309"/>
            <a:ext cx="11666022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Objective</a:t>
            </a:r>
          </a:p>
          <a:p>
            <a:endParaRPr lang="en-IN" sz="3200" dirty="0">
              <a:solidFill>
                <a:srgbClr val="FF0000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/>
                <a:ea typeface="Lato Black" panose="020F0502020204030203" pitchFamily="34" charset="0"/>
                <a:cs typeface="Lato Black" panose="020F0502020204030203" pitchFamily="34" charset="0"/>
              </a:rPr>
              <a:t>Feature Analysis: Identify which features (IQ, CGPA, communication skills, projects, etc.) have the most significant impact on placement outcomes</a:t>
            </a:r>
            <a:r>
              <a:rPr lang="en-IN" sz="1800" dirty="0">
                <a:solidFill>
                  <a:schemeClr val="tx1"/>
                </a:solidFill>
                <a:latin typeface="+mn-lt"/>
                <a:ea typeface="Lato Black" panose="020F0502020204030203" pitchFamily="34" charset="0"/>
                <a:cs typeface="Lato Black" panose="020F050202020403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tx1"/>
              </a:solidFill>
              <a:latin typeface="+mn-lt"/>
              <a:ea typeface="Lato Black" panose="020F0502020204030203" pitchFamily="34" charset="0"/>
              <a:cs typeface="Lato Black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/>
                <a:ea typeface="Lato Black" panose="020F0502020204030203" pitchFamily="34" charset="0"/>
                <a:cs typeface="Lato Black" panose="020F0502020204030203" pitchFamily="34" charset="0"/>
              </a:rPr>
              <a:t>Data Visualization: Explore the data using box plots, histograms, and correlation heatmaps to understand distributions, outliers, and relationships among variables.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+mn-lt"/>
              <a:ea typeface="Lato Black" panose="020F0502020204030203" pitchFamily="34" charset="0"/>
              <a:cs typeface="Lato Black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/>
                <a:ea typeface="Lato Black" panose="020F0502020204030203" pitchFamily="34" charset="0"/>
                <a:cs typeface="Lato Black" panose="020F0502020204030203" pitchFamily="34" charset="0"/>
              </a:rPr>
              <a:t>Support Decision-Making: Provide actionable insights for colleges and recruiters to enhance student placement strategies.</a:t>
            </a:r>
            <a:endParaRPr lang="en-IN" sz="1800" dirty="0">
              <a:solidFill>
                <a:schemeClr val="tx1"/>
              </a:solidFill>
              <a:latin typeface="+mn-lt"/>
              <a:ea typeface="Lato Black" panose="020F0502020204030203" pitchFamily="34" charset="0"/>
              <a:cs typeface="Lato Black" panose="020F0502020204030203" pitchFamily="34" charset="0"/>
            </a:endParaRPr>
          </a:p>
          <a:p>
            <a:endParaRPr lang="en-IN" sz="1800" dirty="0">
              <a:solidFill>
                <a:srgbClr val="FF0000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691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567B308B-D840-5936-60A1-89E7A939E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56A45129-D110-F9E2-2F66-0563F57D39AE}"/>
              </a:ext>
            </a:extLst>
          </p:cNvPr>
          <p:cNvSpPr txBox="1"/>
          <p:nvPr/>
        </p:nvSpPr>
        <p:spPr>
          <a:xfrm>
            <a:off x="427656" y="416554"/>
            <a:ext cx="6099463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Understanding The Columns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DB82B4-66F9-3DC0-C1AE-6D301F281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135" y="1140542"/>
            <a:ext cx="11379062" cy="507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490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DFA32-730C-67D4-74A7-F914E371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9714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C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Data Information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48AA9C-BC92-8EC3-FBDA-DE324AF95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71484"/>
            <a:ext cx="10515600" cy="4505479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C1F5D1-CFC2-79B2-E17F-845F71EE0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71484"/>
            <a:ext cx="10515600" cy="450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966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915CA-A3F5-CFBF-3B94-B9ED48386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47649"/>
          </a:xfrm>
        </p:spPr>
        <p:txBody>
          <a:bodyPr>
            <a:normAutofit/>
          </a:bodyPr>
          <a:lstStyle/>
          <a:p>
            <a:r>
              <a:rPr lang="en-IN" sz="3600" dirty="0"/>
              <a:t>As my dataset is cleaned one , there is no duplicates and  null data in dataset , so there is no cleaning process except data type conversion</a:t>
            </a:r>
            <a:br>
              <a:rPr lang="en-IN" sz="3600" dirty="0"/>
            </a:b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915080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CD125-72E4-AE5C-579F-ED4F29E71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Data </a:t>
            </a:r>
            <a:r>
              <a:rPr lang="en-IN" b="1" dirty="0">
                <a:solidFill>
                  <a:srgbClr val="C00000"/>
                </a:solidFill>
              </a:rPr>
              <a:t>Type Conversion</a:t>
            </a:r>
            <a:endParaRPr lang="en-IN" dirty="0">
              <a:solidFill>
                <a:srgbClr val="C00000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D6527-7CB7-FEC8-3138-D6C3A8B2CC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type conversion ensures columns are stored in the correct format for accurate analysis.</a:t>
            </a:r>
          </a:p>
          <a:p>
            <a:r>
              <a:rPr lang="en-US" dirty="0"/>
              <a:t>I had converted IQ column into int because mostly we will say in terms of numeric in general case not in float.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BDA05D-4120-92AD-ADD9-478B11848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366" y="3808617"/>
            <a:ext cx="3353268" cy="2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144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57F2B-9C71-B4AF-CC1A-2AB530157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6927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C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Handling Outliers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7A300-B4C0-946E-D47B-30DCBF8C0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52052"/>
            <a:ext cx="10515600" cy="512491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2400" dirty="0">
                <a:latin typeface="+mn-lt"/>
              </a:rPr>
              <a:t>Here I handled outliers for some extent ,after checking the distribution  it is symmetric so  I had came into one conclusion that I have to replace Outliers with median. </a:t>
            </a:r>
          </a:p>
          <a:p>
            <a:pPr marL="114300" indent="0">
              <a:buNone/>
            </a:pPr>
            <a:r>
              <a:rPr lang="en-IN" sz="1400" dirty="0"/>
              <a:t>                                     </a:t>
            </a:r>
            <a:r>
              <a:rPr lang="en-IN" sz="1600" dirty="0"/>
              <a:t>Before handling outliers                                                                       After handling outliers</a:t>
            </a:r>
            <a:endParaRPr lang="en-IN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7B03DB-33B1-5250-C3A2-82B731B60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26" y="2851355"/>
            <a:ext cx="4613379" cy="33256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64D2BF-E7F4-574D-ECA0-C8844AF8E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529" y="2851355"/>
            <a:ext cx="5523271" cy="332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69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8EBA2-A45A-66E1-9814-CF081F969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432" y="148817"/>
            <a:ext cx="10515600" cy="667262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FF0000"/>
                </a:solidFill>
              </a:rPr>
              <a:t>Heat Map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F0D1CB-F79E-2112-091C-91F13F10A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816079"/>
            <a:ext cx="10515600" cy="5360884"/>
          </a:xfrm>
        </p:spPr>
        <p:txBody>
          <a:bodyPr>
            <a:normAutofit/>
          </a:bodyPr>
          <a:lstStyle/>
          <a:p>
            <a:r>
              <a:rPr lang="en-US" sz="2400" dirty="0"/>
              <a:t>Most variables show near-zero correlations, with only </a:t>
            </a:r>
            <a:r>
              <a:rPr lang="en-US" sz="2400" dirty="0" err="1"/>
              <a:t>Prev_Sem_Result</a:t>
            </a:r>
            <a:r>
              <a:rPr lang="en-US" sz="2400" dirty="0"/>
              <a:t> and CGPA strongly linked, while IQ and skill/activity features remain independent.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A3AC4A-9D47-1748-7848-BF5A7C4CD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70738"/>
            <a:ext cx="10080231" cy="417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503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3B35F-E398-66E3-F5A7-66BFE5C82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135" y="255638"/>
            <a:ext cx="11068665" cy="668593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C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Univariate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148C7-284C-84B9-5113-CD4D3E287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24232"/>
            <a:ext cx="10970342" cy="5252732"/>
          </a:xfrm>
        </p:spPr>
        <p:txBody>
          <a:bodyPr/>
          <a:lstStyle/>
          <a:p>
            <a:r>
              <a:rPr lang="en-US" sz="2400" dirty="0"/>
              <a:t>Internship experience emerges as a strong positive factor influencing placement outcomes, highlighting the value of practical exposure in securing job opportunities.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96BA85-FC16-2FA5-4CF8-B714FFB8C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59742"/>
            <a:ext cx="4825181" cy="39954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9EF5A4-40A6-E178-E228-433C9891A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516" y="2359742"/>
            <a:ext cx="5712542" cy="3817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747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C2A24-8614-8D71-9ED5-A186C41C9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94" y="147484"/>
            <a:ext cx="11036006" cy="533554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C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Bivariate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3CCBF6-8531-CBD4-B423-64F0AED01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681038"/>
            <a:ext cx="10515600" cy="5495925"/>
          </a:xfrm>
        </p:spPr>
        <p:txBody>
          <a:bodyPr/>
          <a:lstStyle/>
          <a:p>
            <a:pPr marL="114300" indent="0">
              <a:buNone/>
            </a:pPr>
            <a:br>
              <a:rPr lang="en-US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E15C1D-80B2-7652-DDFF-3488EEF44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94" y="2222090"/>
            <a:ext cx="5866696" cy="40803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920C1F-6CA3-EDDC-B031-C2FCFE29D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489" y="2222090"/>
            <a:ext cx="5535563" cy="4080387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F6B1186E-A684-87E7-996F-3BF283B80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116" y="851399"/>
            <a:ext cx="1141525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with higher CGPA are more likely to be placed, highlighting the strong role of academic performance in placement success.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IQ levels show little variation across internship experience, suggesting IQ has a limited influence on placements.</a:t>
            </a:r>
          </a:p>
        </p:txBody>
      </p:sp>
    </p:spTree>
    <p:extLst>
      <p:ext uri="{BB962C8B-B14F-4D97-AF65-F5344CB8AC3E}">
        <p14:creationId xmlns:p14="http://schemas.microsoft.com/office/powerpoint/2010/main" val="1937639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5A84C-4D70-1E6C-6E1A-400436E24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48" y="1"/>
            <a:ext cx="11186652" cy="894734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C0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Multivariate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DB5047-F15F-CC32-BACF-DB5D73C43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606" y="727587"/>
            <a:ext cx="10803194" cy="5449376"/>
          </a:xfrm>
        </p:spPr>
        <p:txBody>
          <a:bodyPr>
            <a:normAutofit/>
          </a:bodyPr>
          <a:lstStyle/>
          <a:p>
            <a:r>
              <a:rPr lang="en-US" sz="2000" dirty="0"/>
              <a:t>Students with higher academic performance and internship experience achieve better CGPA and placement results.</a:t>
            </a:r>
          </a:p>
          <a:p>
            <a:r>
              <a:rPr lang="en-US" sz="2000" dirty="0"/>
              <a:t>This indicates that the blend of strong academics and practical exposure greatly enhances placement opportunities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7AEDF2-1072-6471-F6DE-DFD740E98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112" y="2160527"/>
            <a:ext cx="5110316" cy="41639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5AD500-0D35-6E01-2AE5-5160F133A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2308012"/>
            <a:ext cx="5110316" cy="4163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564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7B9EB-2FD3-FBAA-59DB-564CB5BB1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810" y="117217"/>
            <a:ext cx="10515600" cy="932733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425A3A4-C350-0A48-31AB-A38CECE4C4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0942" y="1288436"/>
            <a:ext cx="11248103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Placement Rate: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~16.6%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students are placed — suggesting a competitive or selective placement process.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Internship Correlation (Potential):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Since most students have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internship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this feature might strongly impact placement chances.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Academic vs. CGPA Consistency: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Prev _ Sem _ Result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CGPA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average around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7.5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showing consistent academic performance across semesters.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Skill Balance: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Academic _ Performance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Communication _ Skills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center around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5–6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suggesting moderate overall skill levels.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of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2.5 projects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completed per student (max 5). Project completion could correlate with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placement success.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Data Quality Issues: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missing values or inconsistent data types detected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719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25DDE-61AA-2A86-85A2-893E94B15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591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70D78-8B01-9A53-1BAB-BA34425D5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78194"/>
            <a:ext cx="10515600" cy="489876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dataset shows that while most students maintain solid academic results, </a:t>
            </a:r>
            <a:r>
              <a:rPr lang="en-US" b="1" dirty="0"/>
              <a:t>non-academic and practical experiences</a:t>
            </a:r>
            <a:r>
              <a:rPr lang="en-US" dirty="0"/>
              <a:t> (like internships, communication skills, and projects) are likely the </a:t>
            </a:r>
            <a:r>
              <a:rPr lang="en-US" b="1" dirty="0"/>
              <a:t>main differentiators</a:t>
            </a:r>
            <a:r>
              <a:rPr lang="en-US" dirty="0"/>
              <a:t> for successful placements.</a:t>
            </a:r>
          </a:p>
          <a:p>
            <a:r>
              <a:rPr lang="en-US" dirty="0"/>
              <a:t>To improve overall placement rates, colleges should:</a:t>
            </a:r>
          </a:p>
          <a:p>
            <a:r>
              <a:rPr lang="en-US" dirty="0"/>
              <a:t>Encourage </a:t>
            </a:r>
            <a:r>
              <a:rPr lang="en-US" b="1" dirty="0"/>
              <a:t>internship participation</a:t>
            </a:r>
            <a:r>
              <a:rPr lang="en-US" dirty="0"/>
              <a:t>.</a:t>
            </a:r>
          </a:p>
          <a:p>
            <a:r>
              <a:rPr lang="en-US" dirty="0"/>
              <a:t>Focus on </a:t>
            </a:r>
            <a:r>
              <a:rPr lang="en-US" b="1" dirty="0"/>
              <a:t>soft skills training and communication development</a:t>
            </a:r>
            <a:r>
              <a:rPr lang="en-US" dirty="0"/>
              <a:t>.</a:t>
            </a:r>
          </a:p>
          <a:p>
            <a:r>
              <a:rPr lang="en-US" dirty="0"/>
              <a:t>Support </a:t>
            </a:r>
            <a:r>
              <a:rPr lang="en-US" b="1" dirty="0"/>
              <a:t>hands-on learning</a:t>
            </a:r>
            <a:r>
              <a:rPr lang="en-US" dirty="0"/>
              <a:t> through projects and real-world exposure.</a:t>
            </a:r>
          </a:p>
          <a:p>
            <a:r>
              <a:rPr lang="en-US" dirty="0"/>
              <a:t>In short: </a:t>
            </a:r>
            <a:r>
              <a:rPr lang="en-US" b="1" dirty="0"/>
              <a:t>Strong academics are necessary but not sufficient — holistic development drives placement success.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43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</TotalTime>
  <Words>594</Words>
  <Application>Microsoft Office PowerPoint</Application>
  <PresentationFormat>Widescreen</PresentationFormat>
  <Paragraphs>61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Calibri</vt:lpstr>
      <vt:lpstr>Arial</vt:lpstr>
      <vt:lpstr>Arial Unicode MS</vt:lpstr>
      <vt:lpstr>Lato Black</vt:lpstr>
      <vt:lpstr>Libre Baskerville</vt:lpstr>
      <vt:lpstr>Office Theme</vt:lpstr>
      <vt:lpstr>PowerPoint Presentation</vt:lpstr>
      <vt:lpstr>Agenda</vt:lpstr>
      <vt:lpstr>PowerPoint Presentation</vt:lpstr>
      <vt:lpstr>PowerPoint Presentation</vt:lpstr>
      <vt:lpstr>Data Information</vt:lpstr>
      <vt:lpstr>As my dataset is cleaned one , there is no duplicates and  null data in dataset , so there is no cleaning process except data type conversion </vt:lpstr>
      <vt:lpstr>Data Type Conversion</vt:lpstr>
      <vt:lpstr>Handling Outliers</vt:lpstr>
      <vt:lpstr>Heat Map Analysis</vt:lpstr>
      <vt:lpstr>Univariate Analysis</vt:lpstr>
      <vt:lpstr>Bivariate Analysis</vt:lpstr>
      <vt:lpstr>Multivariate Analysis</vt:lpstr>
      <vt:lpstr>Insights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hari chandana thumuluru</cp:lastModifiedBy>
  <cp:revision>8</cp:revision>
  <dcterms:created xsi:type="dcterms:W3CDTF">2021-02-16T05:19:01Z</dcterms:created>
  <dcterms:modified xsi:type="dcterms:W3CDTF">2025-11-08T07:26:02Z</dcterms:modified>
</cp:coreProperties>
</file>